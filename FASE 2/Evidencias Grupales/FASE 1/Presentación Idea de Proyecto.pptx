
<file path=[Content_Types].xml><?xml version="1.0" encoding="utf-8"?>
<ns0:Types xmlns:ns0="http://schemas.openxmlformats.org/package/2006/content-types">
  <ns0:Default Extension="bin" ContentType="application/vnd.openxmlformats-officedocument.presentationml.printerSettings"/>
  <ns0:Default Extension="jpeg" ContentType="image/jpeg"/>
  <ns0:Default Extension="png" ContentType="image/png"/>
  <ns0:Default Extension="rels" ContentType="application/vnd.openxmlformats-package.relationships+xml"/>
  <ns0:Default Extension="xml" ContentType="application/xml"/>
  <ns0:Override PartName="/docProps/app.xml" ContentType="application/vnd.openxmlformats-officedocument.extended-properties+xml"/>
  <ns0:Override PartName="/docProps/core.xml" ContentType="application/vnd.openxmlformats-package.core-properties+xml"/>
  <ns0:Override PartName="/ppt/presProps.xml" ContentType="application/vnd.openxmlformats-officedocument.presentationml.presProps+xml"/>
  <ns0:Override PartName="/ppt/presentation.xml" ContentType="application/vnd.openxmlformats-officedocument.presentationml.presentation.main+xml"/>
  <ns0:Override PartName="/ppt/slideLayouts/slideLayout1.xml" ContentType="application/vnd.openxmlformats-officedocument.presentationml.slideLayout+xml"/>
  <ns0:Override PartName="/ppt/slideLayouts/slideLayout10.xml" ContentType="application/vnd.openxmlformats-officedocument.presentationml.slideLayout+xml"/>
  <ns0:Override PartName="/ppt/slideLayouts/slideLayout11.xml" ContentType="application/vnd.openxmlformats-officedocument.presentationml.slideLayout+xml"/>
  <ns0:Override PartName="/ppt/slideLayouts/slideLayout2.xml" ContentType="application/vnd.openxmlformats-officedocument.presentationml.slideLayout+xml"/>
  <ns0:Override PartName="/ppt/slideLayouts/slideLayout3.xml" ContentType="application/vnd.openxmlformats-officedocument.presentationml.slideLayout+xml"/>
  <ns0:Override PartName="/ppt/slideLayouts/slideLayout4.xml" ContentType="application/vnd.openxmlformats-officedocument.presentationml.slideLayout+xml"/>
  <ns0:Override PartName="/ppt/slideLayouts/slideLayout5.xml" ContentType="application/vnd.openxmlformats-officedocument.presentationml.slideLayout+xml"/>
  <ns0:Override PartName="/ppt/slideLayouts/slideLayout6.xml" ContentType="application/vnd.openxmlformats-officedocument.presentationml.slideLayout+xml"/>
  <ns0:Override PartName="/ppt/slideLayouts/slideLayout7.xml" ContentType="application/vnd.openxmlformats-officedocument.presentationml.slideLayout+xml"/>
  <ns0:Override PartName="/ppt/slideLayouts/slideLayout8.xml" ContentType="application/vnd.openxmlformats-officedocument.presentationml.slideLayout+xml"/>
  <ns0:Override PartName="/ppt/slideLayouts/slideLayout9.xml" ContentType="application/vnd.openxmlformats-officedocument.presentationml.slideLayout+xml"/>
  <ns0:Override PartName="/ppt/slideMasters/slideMaster1.xml" ContentType="application/vnd.openxmlformats-officedocument.presentationml.slideMaster+xml"/>
  <ns0:Override PartName="/ppt/slides/slide1.xml" ContentType="application/vnd.openxmlformats-officedocument.presentationml.slide+xml"/>
  <ns0:Override PartName="/ppt/slides/slide2.xml" ContentType="application/vnd.openxmlformats-officedocument.presentationml.slide+xml"/>
  <ns0:Override PartName="/ppt/slides/slide3.xml" ContentType="application/vnd.openxmlformats-officedocument.presentationml.slide+xml"/>
  <ns0:Override PartName="/ppt/slides/slide4.xml" ContentType="application/vnd.openxmlformats-officedocument.presentationml.slide+xml"/>
  <ns0:Override PartName="/ppt/slides/slide5.xml" ContentType="application/vnd.openxmlformats-officedocument.presentationml.slide+xml"/>
  <ns0:Override PartName="/ppt/slides/slide6.xml" ContentType="application/vnd.openxmlformats-officedocument.presentationml.slide+xml"/>
  <ns0:Override PartName="/ppt/slides/slide7.xml" ContentType="application/vnd.openxmlformats-officedocument.presentationml.slide+xml"/>
  <ns0:Override PartName="/ppt/tableStyles.xml" ContentType="application/vnd.openxmlformats-officedocument.presentationml.tableStyles+xml"/>
  <ns0:Override PartName="/ppt/theme/theme1.xml" ContentType="application/vnd.openxmlformats-officedocument.theme+xml"/>
  <ns0:Override PartName="/ppt/viewProps.xml" ContentType="application/vnd.openxmlformats-officedocument.presentationml.viewProps+xml"/>
  <ns0:Default Extension="fntdata" ContentType="application/x-fontdata"/>
</ns0: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ns0:presentation xmlns:ns0="http://schemas.openxmlformats.org/presentationml/2006/main" xmlns:ns1="http://schemas.openxmlformats.org/officeDocument/2006/relationships" xmlns:ns2="http://schemas.openxmlformats.org/drawingml/2006/main" saveSubsetFonts="1" autoCompressPictures="0" embedTrueTypeFonts="1">
  <ns0:sldMasterIdLst>
    <ns0:sldMasterId id="2147483648" ns1:id="rId1"/>
  </ns0:sldMasterIdLst>
  <ns0:sldIdLst>
    <ns0:sldId id="256" ns1:id="rId7"/>
    <ns0:sldId id="257" ns1:id="rId8"/>
    <ns0:sldId id="258" ns1:id="rId9"/>
    <ns0:sldId id="259" ns1:id="rId10"/>
    <ns0:sldId id="260" ns1:id="rId11"/>
    <ns0:sldId id="261" ns1:id="rId12"/>
    <ns0:sldId id="262" ns1:id="rId13"/>
  </ns0:sldIdLst>
  <ns0:sldSz cx="12192000" cy="6858000" type="screen4x3"/>
  <ns0:notesSz cx="6858000" cy="9144000"/>
  <ns0:embeddedFontLst>
    <ns0:embeddedFont>
      <ns0:font typeface="Plus Jakarta Sans"/>
      <ns0:bold ns1:id="rIdFont14"/>
      <ns0:regular ns1:id="rIdFont15"/>
    </ns0:embeddedFont>
    <ns0:embeddedFont>
      <ns0:font typeface="Outfit"/>
      <ns0:bold ns1:id="rIdFont16"/>
    </ns0:embeddedFont>
  </ns0:embeddedFontLst>
  <ns0:defaultTextStyle>
    <ns2:defPPr>
      <ns2:defRPr lang="en-US"/>
    </ns2:defPPr>
    <ns2:lvl1pPr marL="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1pPr>
    <ns2:lvl2pPr marL="457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2pPr>
    <ns2:lvl3pPr marL="914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3pPr>
    <ns2:lvl4pPr marL="1371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4pPr>
    <ns2:lvl5pPr marL="18288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5pPr>
    <ns2:lvl6pPr marL="22860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6pPr>
    <ns2:lvl7pPr marL="2743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7pPr>
    <ns2:lvl8pPr marL="3200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8pPr>
    <ns2:lvl9pPr marL="3657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9pPr>
  </ns0:defaultTextStyle>
</ns0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?>
<ns0:Relationships xmlns:ns0="http://schemas.openxmlformats.org/package/2006/relationships"><ns0:Relationship Id="rId1" Type="http://schemas.openxmlformats.org/officeDocument/2006/relationships/slideMaster" Target="slideMasters/slideMaster1.xml" /><ns0:Relationship Id="rId2" Type="http://schemas.openxmlformats.org/officeDocument/2006/relationships/printerSettings" Target="printerSettings/printerSettings1.bin" /><ns0:Relationship Id="rId3" Type="http://schemas.openxmlformats.org/officeDocument/2006/relationships/presProps" Target="presProps.xml" /><ns0:Relationship Id="rId4" Type="http://schemas.openxmlformats.org/officeDocument/2006/relationships/viewProps" Target="viewProps.xml" /><ns0:Relationship Id="rId5" Type="http://schemas.openxmlformats.org/officeDocument/2006/relationships/theme" Target="theme/theme1.xml" /><ns0:Relationship Id="rId6" Type="http://schemas.openxmlformats.org/officeDocument/2006/relationships/tableStyles" Target="tableStyles.xml" /><ns0:Relationship Id="rId7" Type="http://schemas.openxmlformats.org/officeDocument/2006/relationships/slide" Target="slides/slide1.xml" /><ns0:Relationship Id="rId8" Type="http://schemas.openxmlformats.org/officeDocument/2006/relationships/slide" Target="slides/slide2.xml" /><ns0:Relationship Id="rId9" Type="http://schemas.openxmlformats.org/officeDocument/2006/relationships/slide" Target="slides/slide3.xml" /><ns0:Relationship Id="rId10" Type="http://schemas.openxmlformats.org/officeDocument/2006/relationships/slide" Target="slides/slide4.xml" /><ns0:Relationship Id="rId11" Type="http://schemas.openxmlformats.org/officeDocument/2006/relationships/slide" Target="slides/slide5.xml" /><ns0:Relationship Id="rId12" Type="http://schemas.openxmlformats.org/officeDocument/2006/relationships/slide" Target="slides/slide6.xml" /><ns0:Relationship Id="rId13" Type="http://schemas.openxmlformats.org/officeDocument/2006/relationships/slide" Target="slides/slide7.xml" /><ns0:Relationship Id="rIdFont14" Type="http://schemas.openxmlformats.org/officeDocument/2006/relationships/font" Target="fonts/daa122eb-aec8-4be1-8152-3b27bf536cf7.fntdata" /><ns0:Relationship Id="rIdFont15" Type="http://schemas.openxmlformats.org/officeDocument/2006/relationships/font" Target="fonts/0178f9e0-18c4-4133-8507-6f0e8ab4339c.fntdata" /><ns0:Relationship Id="rIdFont16" Type="http://schemas.openxmlformats.org/officeDocument/2006/relationships/font" Target="fonts/affbd1cc-b276-4b4a-8fb7-6aa026d50195.fntdata" /></ns0: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10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500" y="2765077"/>
            <a:ext cx="11620500" cy="56569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455"/>
              </a:lnSpc>
            </a:pPr>
            <a:r>
              <a:rPr b="1" sz="4050" i="0" u="none">
                <a:solidFill>
                  <a:srgbClr val="F8FAFC"/>
                </a:solidFill>
                <a:latin typeface="Outfit"/>
              </a:rPr>
              <a:t>Asistente Virtual para </a:t>
            </a:r>
            <a:r>
              <a:rPr b="1" sz="4050" i="0" u="none">
                <a:solidFill>
                  <a:srgbClr val="38BDF8"/>
                </a:solidFill>
                <a:latin typeface="Outfit"/>
              </a:rPr>
              <a:t>Licitaciones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1500" y="3521273"/>
            <a:ext cx="81915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b="0" sz="1500" i="0" u="none">
                <a:solidFill>
                  <a:srgbClr val="94A3B8"/>
                </a:solidFill>
                <a:latin typeface="Plus Jakarta Sans"/>
              </a:rPr>
              <a:t>Resumen Ejecutivo de Proyecto | Vinculación con el Medio (VcM) entre Hotel Plaza San Francisco y DUOC UC.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571500" y="2762250"/>
            <a:ext cx="5357812" cy="2124075"/>
          </a:xfrm>
          <a:prstGeom prst="roundRect">
            <a:avLst>
              <a:gd name="adj" fmla="val 4484"/>
            </a:avLst>
          </a:prstGeom>
          <a:solidFill>
            <a:srgbClr val="0F172A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262687" y="2289125"/>
            <a:ext cx="5357812" cy="3070324"/>
          </a:xfrm>
          <a:prstGeom prst="roundRect">
            <a:avLst>
              <a:gd name="adj" fmla="val 3722"/>
            </a:avLst>
          </a:prstGeom>
          <a:solidFill>
            <a:srgbClr val="0F172A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7725" y="3086100"/>
            <a:ext cx="304800" cy="3048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71500" y="476250"/>
            <a:ext cx="11620500" cy="457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850" i="0" u="none">
                <a:solidFill>
                  <a:srgbClr val="F8FAFC"/>
                </a:solidFill>
                <a:latin typeface="Outfit"/>
              </a:rPr>
              <a:t>Contexto y Definición del Cliente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7725" y="3562350"/>
            <a:ext cx="6307038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F8FAFC"/>
                </a:solidFill>
                <a:latin typeface="Outfit"/>
              </a:rPr>
              <a:t>El Cliente: Hotel Plaza San Francisco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7725" y="3924300"/>
            <a:ext cx="490061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125" i="0" u="none">
                <a:solidFill>
                  <a:srgbClr val="94A3B8"/>
                </a:solidFill>
                <a:latin typeface="Plus Jakarta Sans"/>
              </a:rPr>
              <a:t>Destacado hotel de categoría corporativa y de eventos ubicado en Santiago de Chile, que busca optimizar su captación de negocios en el sector estatal.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24662" y="2584400"/>
            <a:ext cx="4595812" cy="7313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38BDF8"/>
                </a:solidFill>
                <a:latin typeface="Plus Jakarta Sans"/>
              </a:rPr>
              <a:t>Alianzas Estratégicas (VcM):</a:t>
            </a:r>
            <a:r>
              <a:rPr b="0" sz="1200" i="0" u="none">
                <a:solidFill>
                  <a:srgbClr val="94A3B8"/>
                </a:solidFill>
                <a:latin typeface="Plus Jakarta Sans"/>
              </a:rPr>
              <a:t> Proyecto colaborativo desarrollado bajo el programa de Vinculación con el Medio de DUOC UC.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24662" y="3458616"/>
            <a:ext cx="4595812" cy="7313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38BDF8"/>
                </a:solidFill>
                <a:latin typeface="Plus Jakarta Sans"/>
              </a:rPr>
              <a:t>Modelo Actual:</a:t>
            </a:r>
            <a:r>
              <a:rPr b="0" sz="1200" i="0" u="none">
                <a:solidFill>
                  <a:srgbClr val="94A3B8"/>
                </a:solidFill>
                <a:latin typeface="Plus Jakarta Sans"/>
              </a:rPr>
              <a:t> El equipo comercial de eventos (liderado por Francisca Salato) opera bajo un esquema reactivo de prospección.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24662" y="4332833"/>
            <a:ext cx="4595812" cy="7313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38BDF8"/>
                </a:solidFill>
                <a:latin typeface="Plus Jakarta Sans"/>
              </a:rPr>
              <a:t>Objetivo Central:</a:t>
            </a:r>
            <a:r>
              <a:rPr b="0" sz="1200" i="0" u="none">
                <a:solidFill>
                  <a:srgbClr val="94A3B8"/>
                </a:solidFill>
                <a:latin typeface="Plus Jakarta Sans"/>
              </a:rPr>
              <a:t> Transformar la búsqueda manual de licitaciones públicas en un motor inteligente de alta precisión y oportunidad comercial.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57962" y="2584400"/>
            <a:ext cx="152400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1" sz="1200" i="0" u="none">
                <a:solidFill>
                  <a:srgbClr val="38BDF8"/>
                </a:solidFill>
                <a:latin typeface="Plus Jakarta Sans"/>
              </a:rPr>
              <a:t>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57962" y="3458616"/>
            <a:ext cx="152400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1" sz="1200" i="0" u="none">
                <a:solidFill>
                  <a:srgbClr val="38BDF8"/>
                </a:solidFill>
                <a:latin typeface="Plus Jakarta Sans"/>
              </a:rPr>
              <a:t>→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57962" y="4332833"/>
            <a:ext cx="152400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1" sz="1200" i="0" u="none">
                <a:solidFill>
                  <a:srgbClr val="38BDF8"/>
                </a:solidFill>
                <a:latin typeface="Plus Jakarta Sans"/>
              </a:rPr>
              <a:t>→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571500" y="2647950"/>
            <a:ext cx="3524250" cy="2352675"/>
          </a:xfrm>
          <a:prstGeom prst="roundRect">
            <a:avLst>
              <a:gd name="adj" fmla="val 4048"/>
            </a:avLst>
          </a:prstGeom>
          <a:solidFill>
            <a:srgbClr val="0F172A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333875" y="2647950"/>
            <a:ext cx="3524250" cy="2352675"/>
          </a:xfrm>
          <a:prstGeom prst="roundRect">
            <a:avLst>
              <a:gd name="adj" fmla="val 4048"/>
            </a:avLst>
          </a:prstGeom>
          <a:solidFill>
            <a:srgbClr val="0F172A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096250" y="2647950"/>
            <a:ext cx="3524250" cy="2352675"/>
          </a:xfrm>
          <a:prstGeom prst="roundRect">
            <a:avLst>
              <a:gd name="adj" fmla="val 4048"/>
            </a:avLst>
          </a:prstGeom>
          <a:solidFill>
            <a:srgbClr val="0F172A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7725" y="2971800"/>
            <a:ext cx="304800" cy="3048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10100" y="2971800"/>
            <a:ext cx="304800" cy="3048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72475" y="2971800"/>
            <a:ext cx="342900" cy="304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71500" y="476250"/>
            <a:ext cx="11620500" cy="457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850" i="0" u="none">
                <a:solidFill>
                  <a:srgbClr val="F8FAFC"/>
                </a:solidFill>
                <a:latin typeface="Outfit"/>
              </a:rPr>
              <a:t>Diagnóstico de la Problemática Actual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7725" y="3448050"/>
            <a:ext cx="3900487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F8FAFC"/>
                </a:solidFill>
                <a:latin typeface="Outfit"/>
              </a:rPr>
              <a:t>Ineficiencia Semántica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7725" y="3810000"/>
            <a:ext cx="306705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125" i="0" u="none">
                <a:solidFill>
                  <a:srgbClr val="94A3B8"/>
                </a:solidFill>
                <a:latin typeface="Plus Jakarta Sans"/>
              </a:rPr>
              <a:t>Pérdida de oportunidades críticas en Mercado Público debido a variaciones terminológicas no detectadas (ej. "hospedaje" vs. "alojamiento").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0100" y="3448050"/>
            <a:ext cx="3900487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F8FAFC"/>
                </a:solidFill>
                <a:latin typeface="Outfit"/>
              </a:rPr>
              <a:t>Costo de Oportunidad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0100" y="3810000"/>
            <a:ext cx="306705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125" i="0" u="none">
                <a:solidFill>
                  <a:srgbClr val="94A3B8"/>
                </a:solidFill>
                <a:latin typeface="Plus Jakarta Sans"/>
              </a:rPr>
              <a:t>El equipo destina 1 a 2 horas diarias a revisar hasta 10 páginas de resultados, generando desventaja frente a competidores más rápidos.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72475" y="3448050"/>
            <a:ext cx="3819525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F8FAFC"/>
                </a:solidFill>
                <a:latin typeface="Outfit"/>
              </a:rPr>
              <a:t>Fricciones y Errores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72475" y="3810000"/>
            <a:ext cx="306705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125" i="0" u="none">
                <a:solidFill>
                  <a:srgbClr val="94A3B8"/>
                </a:solidFill>
                <a:latin typeface="Plus Jakarta Sans"/>
              </a:rPr>
              <a:t>Presencia del "Efecto ID" (identificadores erróneos en resúmenes) y barreras de autenticación (Clave Única) que desalientan la revisión exhaustiva.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571500" y="2478583"/>
            <a:ext cx="5357812" cy="2691407"/>
          </a:xfrm>
          <a:prstGeom prst="roundRect">
            <a:avLst>
              <a:gd name="adj" fmla="val 4246"/>
            </a:avLst>
          </a:prstGeom>
          <a:solidFill>
            <a:srgbClr val="0F172A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262687" y="2478583"/>
            <a:ext cx="5357812" cy="2691407"/>
          </a:xfrm>
          <a:prstGeom prst="roundRect">
            <a:avLst>
              <a:gd name="adj" fmla="val 4246"/>
            </a:avLst>
          </a:prstGeom>
          <a:solidFill>
            <a:srgbClr val="0F172A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71500" y="476250"/>
            <a:ext cx="11620500" cy="457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850" i="0" u="none">
                <a:solidFill>
                  <a:srgbClr val="F8FAFC"/>
                </a:solidFill>
                <a:latin typeface="Outfit"/>
              </a:rPr>
              <a:t>Solución Propuesta y Alcance del Proyecto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6775" y="2773858"/>
            <a:ext cx="6257032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F8FAFC"/>
                </a:solidFill>
                <a:latin typeface="Outfit"/>
              </a:rPr>
              <a:t>Filtro Inteligente y NLP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57962" y="2773858"/>
            <a:ext cx="5634037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F8FAFC"/>
                </a:solidFill>
                <a:latin typeface="Outfit"/>
              </a:rPr>
              <a:t>Análisis de TDR y Admisibilidad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3475" y="3126283"/>
            <a:ext cx="4595812" cy="487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38BDF8"/>
                </a:solidFill>
                <a:latin typeface="Plus Jakarta Sans"/>
              </a:rPr>
              <a:t>Motor Semántico:</a:t>
            </a:r>
            <a:r>
              <a:rPr b="0" sz="1200" i="0" u="none">
                <a:solidFill>
                  <a:srgbClr val="94A3B8"/>
                </a:solidFill>
                <a:latin typeface="Plus Jakarta Sans"/>
              </a:rPr>
              <a:t> Captura la intención de búsqueda más allá de coincidencias exactas.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475" y="3756719"/>
            <a:ext cx="4595812" cy="487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38BDF8"/>
                </a:solidFill>
                <a:latin typeface="Plus Jakarta Sans"/>
              </a:rPr>
              <a:t>Segmentación Geográfica:</a:t>
            </a:r>
            <a:r>
              <a:rPr b="0" sz="1200" i="0" u="none">
                <a:solidFill>
                  <a:srgbClr val="94A3B8"/>
                </a:solidFill>
                <a:latin typeface="Plus Jakarta Sans"/>
              </a:rPr>
              <a:t> Priorización focalizada en la Región Metropolitana (Santiago).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475" y="4387155"/>
            <a:ext cx="4595812" cy="487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38BDF8"/>
                </a:solidFill>
                <a:latin typeface="Plus Jakarta Sans"/>
              </a:rPr>
              <a:t>Compra Ágil:</a:t>
            </a:r>
            <a:r>
              <a:rPr b="0" sz="1200" i="0" u="none">
                <a:solidFill>
                  <a:srgbClr val="94A3B8"/>
                </a:solidFill>
                <a:latin typeface="Plus Jakarta Sans"/>
              </a:rPr>
              <a:t> Monitoreo automatizado del nuevo límite de 6.900.000 CLP.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24662" y="3126283"/>
            <a:ext cx="4595812" cy="487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38BDF8"/>
                </a:solidFill>
                <a:latin typeface="Plus Jakarta Sans"/>
              </a:rPr>
              <a:t>Síntesis de Bases:</a:t>
            </a:r>
            <a:r>
              <a:rPr b="0" sz="1200" i="0" u="none">
                <a:solidFill>
                  <a:srgbClr val="94A3B8"/>
                </a:solidFill>
                <a:latin typeface="Plus Jakarta Sans"/>
              </a:rPr>
              <a:t> Procesamiento con NLP de documentos de hasta 50 páginas (plazos y presupuestos).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24662" y="3756719"/>
            <a:ext cx="4595812" cy="487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38BDF8"/>
                </a:solidFill>
                <a:latin typeface="Plus Jakarta Sans"/>
              </a:rPr>
              <a:t>Control Administrativo:</a:t>
            </a:r>
            <a:r>
              <a:rPr b="0" sz="1200" i="0" u="none">
                <a:solidFill>
                  <a:srgbClr val="94A3B8"/>
                </a:solidFill>
                <a:latin typeface="Plus Jakarta Sans"/>
              </a:rPr>
              <a:t> Alerta sobre documentos críticos (Anexo 4, poderes, vigencias) para evitar descalificaciones.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24662" y="4387155"/>
            <a:ext cx="4595812" cy="487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38BDF8"/>
                </a:solidFill>
                <a:latin typeface="Plus Jakarta Sans"/>
              </a:rPr>
              <a:t>Dashboard Gerencial:</a:t>
            </a:r>
            <a:r>
              <a:rPr b="0" sz="1200" i="0" u="none">
                <a:solidFill>
                  <a:srgbClr val="94A3B8"/>
                </a:solidFill>
                <a:latin typeface="Plus Jakarta Sans"/>
              </a:rPr>
              <a:t> Embudo de conversión y trazabilidad de licitaciones.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6775" y="3126283"/>
            <a:ext cx="152400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1" sz="1200" i="0" u="none">
                <a:solidFill>
                  <a:srgbClr val="38BDF8"/>
                </a:solidFill>
                <a:latin typeface="Plus Jakarta Sans"/>
              </a:rPr>
              <a:t>→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6775" y="3756719"/>
            <a:ext cx="152400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1" sz="1200" i="0" u="none">
                <a:solidFill>
                  <a:srgbClr val="38BDF8"/>
                </a:solidFill>
                <a:latin typeface="Plus Jakarta Sans"/>
              </a:rPr>
              <a:t>→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6775" y="4387155"/>
            <a:ext cx="152400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1" sz="1200" i="0" u="none">
                <a:solidFill>
                  <a:srgbClr val="38BDF8"/>
                </a:solidFill>
                <a:latin typeface="Plus Jakarta Sans"/>
              </a:rPr>
              <a:t>→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57962" y="3126283"/>
            <a:ext cx="152400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1" sz="1200" i="0" u="none">
                <a:solidFill>
                  <a:srgbClr val="38BDF8"/>
                </a:solidFill>
                <a:latin typeface="Plus Jakarta Sans"/>
              </a:rPr>
              <a:t>→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57962" y="3756719"/>
            <a:ext cx="152400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1" sz="1200" i="0" u="none">
                <a:solidFill>
                  <a:srgbClr val="38BDF8"/>
                </a:solidFill>
                <a:latin typeface="Plus Jakarta Sans"/>
              </a:rPr>
              <a:t>→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57962" y="4387155"/>
            <a:ext cx="152400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1" sz="1200" i="0" u="none">
                <a:solidFill>
                  <a:srgbClr val="38BDF8"/>
                </a:solidFill>
                <a:latin typeface="Plus Jakarta Sans"/>
              </a:rPr>
              <a:t>→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571500" y="4269730"/>
            <a:ext cx="11049000" cy="887610"/>
          </a:xfrm>
          <a:prstGeom prst="roundRect">
            <a:avLst>
              <a:gd name="adj" fmla="val 10731"/>
            </a:avLst>
          </a:prstGeom>
          <a:solidFill>
            <a:srgbClr val="0F172A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71500" y="2491233"/>
            <a:ext cx="3359199" cy="1445121"/>
          </a:xfrm>
          <a:prstGeom prst="roundRect">
            <a:avLst>
              <a:gd name="adj" fmla="val 6591"/>
            </a:avLst>
          </a:prstGeom>
          <a:solidFill>
            <a:srgbClr val="0F172A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416474" y="2491233"/>
            <a:ext cx="3359199" cy="1445121"/>
          </a:xfrm>
          <a:prstGeom prst="roundRect">
            <a:avLst>
              <a:gd name="adj" fmla="val 6591"/>
            </a:avLst>
          </a:prstGeom>
          <a:solidFill>
            <a:srgbClr val="0F172A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61449" y="2491233"/>
            <a:ext cx="3359199" cy="1445121"/>
          </a:xfrm>
          <a:prstGeom prst="roundRect">
            <a:avLst>
              <a:gd name="adj" fmla="val 6591"/>
            </a:avLst>
          </a:prstGeom>
          <a:solidFill>
            <a:srgbClr val="0F172A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73574" y="3109019"/>
            <a:ext cx="200025" cy="2286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18549" y="3109019"/>
            <a:ext cx="200025" cy="2286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71500" y="476250"/>
            <a:ext cx="11620500" cy="457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850" i="0" u="none">
                <a:solidFill>
                  <a:srgbClr val="F8FAFC"/>
                </a:solidFill>
                <a:latin typeface="Outfit"/>
              </a:rPr>
              <a:t>Diagrama de Arquitectura de la Solución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-279796" y="4469755"/>
            <a:ext cx="12751593" cy="487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920"/>
              </a:lnSpc>
            </a:pPr>
            <a:r>
              <a:rPr b="0" sz="1200" i="0" u="none">
                <a:solidFill>
                  <a:srgbClr val="38BDF8"/>
                </a:solidFill>
                <a:latin typeface="Plus Jakarta Sans"/>
              </a:rPr>
              <a:t>Restricción de Infraestructura:</a:t>
            </a:r>
            <a:r>
              <a:rPr b="0" sz="1200" i="0" u="none">
                <a:solidFill>
                  <a:srgbClr val="F8FAFC"/>
                </a:solidFill>
                <a:latin typeface="Plus Jakarta Sans"/>
              </a:rPr>
              <a:t> Arquitectura web ligera desarrollada en Python para operar sin conflictos con los estrictos firewalls y protocolos antivirus del hotel.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9157" y="2966888"/>
            <a:ext cx="3883883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350" i="0" u="none">
                <a:solidFill>
                  <a:srgbClr val="F8FAFC"/>
                </a:solidFill>
                <a:latin typeface="Outfit"/>
              </a:rPr>
              <a:t>1. Portal Mercado Público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1631" y="3262163"/>
            <a:ext cx="3698937" cy="4265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b="0" sz="1050" i="0" u="none">
                <a:solidFill>
                  <a:srgbClr val="94A3B8"/>
                </a:solidFill>
                <a:latin typeface="Plus Jakarta Sans"/>
              </a:rPr>
              <a:t>Extracción automatizada de datos y fichas de licitación.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54132" y="2966888"/>
            <a:ext cx="3883883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350" i="0" u="none">
                <a:solidFill>
                  <a:srgbClr val="F8FAFC"/>
                </a:solidFill>
                <a:latin typeface="Outfit"/>
              </a:rPr>
              <a:t>2. Motor Python &amp; NLP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46605" y="3262163"/>
            <a:ext cx="3698937" cy="4265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b="0" sz="1050" i="0" u="none">
                <a:solidFill>
                  <a:srgbClr val="94A3B8"/>
                </a:solidFill>
                <a:latin typeface="Plus Jakarta Sans"/>
              </a:rPr>
              <a:t>Procesamiento semántico, validación cruzada de IDs y análisis de TDR.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99107" y="2966888"/>
            <a:ext cx="3883883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350" i="0" u="none">
                <a:solidFill>
                  <a:srgbClr val="F8FAFC"/>
                </a:solidFill>
                <a:latin typeface="Outfit"/>
              </a:rPr>
              <a:t>3. Interfaz Web &amp; Dashboard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91580" y="3262163"/>
            <a:ext cx="3698937" cy="4265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b="0" sz="1050" i="0" u="none">
                <a:solidFill>
                  <a:srgbClr val="94A3B8"/>
                </a:solidFill>
                <a:latin typeface="Plus Jakarta Sans"/>
              </a:rPr>
              <a:t>Acceso seguro sin scripts locales y visualización gerencial.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571500" y="2647950"/>
            <a:ext cx="3524250" cy="2352675"/>
          </a:xfrm>
          <a:prstGeom prst="roundRect">
            <a:avLst>
              <a:gd name="adj" fmla="val 4048"/>
            </a:avLst>
          </a:prstGeom>
          <a:solidFill>
            <a:srgbClr val="0F172A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333875" y="2647950"/>
            <a:ext cx="3524250" cy="2352675"/>
          </a:xfrm>
          <a:prstGeom prst="roundRect">
            <a:avLst>
              <a:gd name="adj" fmla="val 4048"/>
            </a:avLst>
          </a:prstGeom>
          <a:solidFill>
            <a:srgbClr val="0F172A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096250" y="2647950"/>
            <a:ext cx="3524250" cy="2352675"/>
          </a:xfrm>
          <a:prstGeom prst="roundRect">
            <a:avLst>
              <a:gd name="adj" fmla="val 4048"/>
            </a:avLst>
          </a:prstGeom>
          <a:solidFill>
            <a:srgbClr val="0F172A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7725" y="2971800"/>
            <a:ext cx="304800" cy="3048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10100" y="2971800"/>
            <a:ext cx="304800" cy="3048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72475" y="2971800"/>
            <a:ext cx="304800" cy="304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71500" y="476250"/>
            <a:ext cx="11620500" cy="457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850" i="0" u="none">
                <a:solidFill>
                  <a:srgbClr val="F8FAFC"/>
                </a:solidFill>
                <a:latin typeface="Outfit"/>
              </a:rPr>
              <a:t>Análisis de Alternativas y Diferenciación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7725" y="3448050"/>
            <a:ext cx="3900487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F8FAFC"/>
                </a:solidFill>
                <a:latin typeface="Outfit"/>
              </a:rPr>
              <a:t>¿Qué soluciones existen?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7725" y="3810000"/>
            <a:ext cx="306705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125" i="0" u="none">
                <a:solidFill>
                  <a:srgbClr val="94A3B8"/>
                </a:solidFill>
                <a:latin typeface="Plus Jakarta Sans"/>
              </a:rPr>
              <a:t>Plataformas de monitoreo genéricas basadas en alertas por correo de palabras clave exactas y revisiones manuales tradicionales.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0100" y="3448050"/>
            <a:ext cx="3900487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F8FAFC"/>
                </a:solidFill>
                <a:latin typeface="Outfit"/>
              </a:rPr>
              <a:t>¿En qué nos diferenciamos?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0100" y="3810000"/>
            <a:ext cx="306705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125" i="0" u="none">
                <a:solidFill>
                  <a:srgbClr val="94A3B8"/>
                </a:solidFill>
                <a:latin typeface="Plus Jakarta Sans"/>
              </a:rPr>
              <a:t>En el uso de procesamiento semántico profundo (NLP), validación cruzada real de IDs contra anexos y arquitectura web corporativa segura.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72475" y="3448050"/>
            <a:ext cx="3819525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F8FAFC"/>
                </a:solidFill>
                <a:latin typeface="Outfit"/>
              </a:rPr>
              <a:t>Valor Agregado (Aporte)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72475" y="3810000"/>
            <a:ext cx="306705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125" i="0" u="none">
                <a:solidFill>
                  <a:srgbClr val="94A3B8"/>
                </a:solidFill>
                <a:latin typeface="Plus Jakarta Sans"/>
              </a:rPr>
              <a:t>Transformación del equipo comercial de la recolección manual de datos hacia el diseño estratégico de propuestas ganadoras de valor.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571500" y="2647950"/>
            <a:ext cx="3524250" cy="2352675"/>
          </a:xfrm>
          <a:prstGeom prst="roundRect">
            <a:avLst>
              <a:gd name="adj" fmla="val 4048"/>
            </a:avLst>
          </a:prstGeom>
          <a:solidFill>
            <a:srgbClr val="0F172A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333875" y="2647950"/>
            <a:ext cx="3524250" cy="2352675"/>
          </a:xfrm>
          <a:prstGeom prst="roundRect">
            <a:avLst>
              <a:gd name="adj" fmla="val 4048"/>
            </a:avLst>
          </a:prstGeom>
          <a:solidFill>
            <a:srgbClr val="0F172A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096250" y="2647950"/>
            <a:ext cx="3524250" cy="2352675"/>
          </a:xfrm>
          <a:prstGeom prst="roundRect">
            <a:avLst>
              <a:gd name="adj" fmla="val 4048"/>
            </a:avLst>
          </a:prstGeom>
          <a:solidFill>
            <a:srgbClr val="0F172A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7725" y="2971800"/>
            <a:ext cx="304800" cy="3048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10100" y="2971800"/>
            <a:ext cx="304800" cy="3048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72475" y="2971800"/>
            <a:ext cx="304800" cy="304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71500" y="476250"/>
            <a:ext cx="11620500" cy="457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850" i="0" u="none">
                <a:solidFill>
                  <a:srgbClr val="F8FAFC"/>
                </a:solidFill>
                <a:latin typeface="Outfit"/>
              </a:rPr>
              <a:t>Conclusión e Impacto Estratégico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7725" y="3448050"/>
            <a:ext cx="3900487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F8FAFC"/>
                </a:solidFill>
                <a:latin typeface="Outfit"/>
              </a:rPr>
              <a:t>Detección Oportuna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7725" y="3810000"/>
            <a:ext cx="306705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125" i="0" u="none">
                <a:solidFill>
                  <a:srgbClr val="94A3B8"/>
                </a:solidFill>
                <a:latin typeface="Plus Jakarta Sans"/>
              </a:rPr>
              <a:t>Garantiza el posicionamiento temprano del Hotel Plaza San Francisco antes que la competencia bloquee disponibilidad en fechas clave.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0100" y="3448050"/>
            <a:ext cx="3900487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F8FAFC"/>
                </a:solidFill>
                <a:latin typeface="Outfit"/>
              </a:rPr>
              <a:t>Mitigación de Riesgos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0100" y="3810000"/>
            <a:ext cx="306705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125" i="0" u="none">
                <a:solidFill>
                  <a:srgbClr val="94A3B8"/>
                </a:solidFill>
                <a:latin typeface="Plus Jakarta Sans"/>
              </a:rPr>
              <a:t>Evita descalificaciones técnicas por omisión administrativa y asegura el cumplimiento presupuestario preventivo.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72475" y="3448050"/>
            <a:ext cx="3819525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F8FAFC"/>
                </a:solidFill>
                <a:latin typeface="Outfit"/>
              </a:rPr>
              <a:t>Innovación DUOC UC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72475" y="3810000"/>
            <a:ext cx="306705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125" i="0" u="none">
                <a:solidFill>
                  <a:srgbClr val="94A3B8"/>
                </a:solidFill>
                <a:latin typeface="Plus Jakarta Sans"/>
              </a:rPr>
              <a:t>Consolida una solución tecnológica de alto impacto comercial bajo el modelo de colaboración con la industria hotelera.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