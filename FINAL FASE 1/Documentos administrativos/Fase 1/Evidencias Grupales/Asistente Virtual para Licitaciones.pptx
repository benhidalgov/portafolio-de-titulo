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12192000"/>
  <p:notesSz cx="6858000" cy="9144000"/>
  <p:embeddedFontLst>
    <p:embeddedFont>
      <p:font typeface="Plus Jakarta Sans"/>
      <p:regular r:id="rId13"/>
      <p:bold r:id="rId14"/>
      <p:italic r:id="rId15"/>
      <p:boldItalic r:id="rId16"/>
    </p:embeddedFont>
    <p:embeddedFont>
      <p:font typeface="Outfit"/>
      <p:regular r:id="rId17"/>
      <p:bold r:id="rId18"/>
    </p:embeddedFont>
    <p:embeddedFont>
      <p:font typeface="Plus Jakarta Sans Medium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usJakartaSansMedium-bold.fntdata"/><Relationship Id="rId11" Type="http://schemas.openxmlformats.org/officeDocument/2006/relationships/slide" Target="slides/slide6.xml"/><Relationship Id="rId22" Type="http://schemas.openxmlformats.org/officeDocument/2006/relationships/font" Target="fonts/PlusJakartaSansMedium-boldItalic.fntdata"/><Relationship Id="rId10" Type="http://schemas.openxmlformats.org/officeDocument/2006/relationships/slide" Target="slides/slide5.xml"/><Relationship Id="rId21" Type="http://schemas.openxmlformats.org/officeDocument/2006/relationships/font" Target="fonts/PlusJakartaSansMedium-italic.fntdata"/><Relationship Id="rId13" Type="http://schemas.openxmlformats.org/officeDocument/2006/relationships/font" Target="fonts/PlusJakartaSans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lusJakartaSans-italic.fntdata"/><Relationship Id="rId14" Type="http://schemas.openxmlformats.org/officeDocument/2006/relationships/font" Target="fonts/PlusJakartaSans-bold.fntdata"/><Relationship Id="rId17" Type="http://schemas.openxmlformats.org/officeDocument/2006/relationships/font" Target="fonts/Outfit-regular.fntdata"/><Relationship Id="rId16" Type="http://schemas.openxmlformats.org/officeDocument/2006/relationships/font" Target="fonts/PlusJakartaSans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PlusJakartaSansMedium-regular.fntdata"/><Relationship Id="rId6" Type="http://schemas.openxmlformats.org/officeDocument/2006/relationships/slide" Target="slides/slide1.xml"/><Relationship Id="rId18" Type="http://schemas.openxmlformats.org/officeDocument/2006/relationships/font" Target="fonts/Outfit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Relationship Id="rId4" Type="http://schemas.openxmlformats.org/officeDocument/2006/relationships/image" Target="../media/image4.png"/><Relationship Id="rId9" Type="http://schemas.openxmlformats.org/officeDocument/2006/relationships/image" Target="../media/image8.png"/><Relationship Id="rId5" Type="http://schemas.openxmlformats.org/officeDocument/2006/relationships/image" Target="../media/image7.png"/><Relationship Id="rId6" Type="http://schemas.openxmlformats.org/officeDocument/2006/relationships/image" Target="../media/image1.png"/><Relationship Id="rId7" Type="http://schemas.openxmlformats.org/officeDocument/2006/relationships/image" Target="../media/image20.png"/><Relationship Id="rId8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5.png"/><Relationship Id="rId9" Type="http://schemas.openxmlformats.org/officeDocument/2006/relationships/image" Target="../media/image22.png"/><Relationship Id="rId5" Type="http://schemas.openxmlformats.org/officeDocument/2006/relationships/image" Target="../media/image2.png"/><Relationship Id="rId6" Type="http://schemas.openxmlformats.org/officeDocument/2006/relationships/image" Target="../media/image12.png"/><Relationship Id="rId7" Type="http://schemas.openxmlformats.org/officeDocument/2006/relationships/image" Target="../media/image9.png"/><Relationship Id="rId8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23.png"/><Relationship Id="rId5" Type="http://schemas.openxmlformats.org/officeDocument/2006/relationships/image" Target="../media/image2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5.png"/><Relationship Id="rId9" Type="http://schemas.openxmlformats.org/officeDocument/2006/relationships/image" Target="../media/image24.png"/><Relationship Id="rId5" Type="http://schemas.openxmlformats.org/officeDocument/2006/relationships/image" Target="../media/image2.png"/><Relationship Id="rId6" Type="http://schemas.openxmlformats.org/officeDocument/2006/relationships/image" Target="../media/image12.png"/><Relationship Id="rId7" Type="http://schemas.openxmlformats.org/officeDocument/2006/relationships/image" Target="../media/image14.png"/><Relationship Id="rId8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11.png"/><Relationship Id="rId9" Type="http://schemas.openxmlformats.org/officeDocument/2006/relationships/image" Target="../media/image21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71500" y="2715517"/>
            <a:ext cx="11601450" cy="607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5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Asistente Virtual para </a:t>
            </a:r>
            <a:r>
              <a:rPr b="1" i="0" lang="en-US" sz="4350" u="none" cap="none" strike="noStrik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Licitaciones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3513683"/>
            <a:ext cx="76200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Análisis Estratégico de Soluciones Tecnológicas y Propuesta de Valor para el Hotel Plaza San Francisco (DUOC UC).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2" name="Google Shape;9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97583"/>
            <a:ext cx="3492549" cy="34534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097583"/>
            <a:ext cx="3492549" cy="34534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097583"/>
            <a:ext cx="3492549" cy="3453407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914400" y="3059608"/>
            <a:ext cx="2947087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Plataformas de Monitoreo Genéricas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914400" y="3745408"/>
            <a:ext cx="2806749" cy="14626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Herramientas tradicionales de vigilancia de Mercado Público que operan mediante alertas por correo basadas estrictamente en palabras clave exactas y códigos rubros estándar.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4692699" y="3059608"/>
            <a:ext cx="2947087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Prospección Manual Tradicional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4692699" y="3745408"/>
            <a:ext cx="2806749" cy="14626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El enfoque actual del equipo comercial: revisiones diarias de múltiples páginas y portales, consumiendo entre 1 y 2 horas operativas diarias por analista de eventos.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8470999" y="3059608"/>
            <a:ext cx="2947087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Sistemas de Alerta Básicos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8470999" y="3745408"/>
            <a:ext cx="2806749" cy="12189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Software que notifica oportunidades pero carece de validación profunda de archivos adjuntos, exponiendo a los equipos a errores de identificación de IDs y bases caídas.</a:t>
            </a:r>
            <a:endParaRPr/>
          </a:p>
        </p:txBody>
      </p:sp>
      <p:pic>
        <p:nvPicPr>
          <p:cNvPr descr="image.png" id="101" name="Google Shape;101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14400" y="2497633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92699" y="2497633"/>
            <a:ext cx="4286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70999" y="2497633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¿Qué soluciones similares existen actualmente?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9" name="Google Shape;10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75557"/>
            <a:ext cx="5334000" cy="34973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075557"/>
            <a:ext cx="5334000" cy="3497312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1200150" y="2418457"/>
            <a:ext cx="43624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8BDF8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Búsqueda Básica por Filtros: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Selección manual de rubros y organismos públicos en la plataforma de Mercado Público.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1200150" y="3412777"/>
            <a:ext cx="43624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8BDF8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Alertas Automatizadas por Correo: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Envío diario de listados de licitación que coinciden con los descriptores preconfigurados.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1200150" y="4407098"/>
            <a:ext cx="43624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8BDF8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Repositorios Documentales: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Almacenamiento y descarga de bases administrativas y técnicas adjuntas en los procesos.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6915150" y="2418457"/>
            <a:ext cx="43624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8BDF8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Reportes de Estadísticas Simples: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Visualización tabular básica de licitaciones publicadas históricamente en el portal de compras.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6915150" y="3412777"/>
            <a:ext cx="43624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8BDF8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Autenticación Estándar: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Acceso mediante Clave Única institucional y validación estándar de doble factor para portales del Estado.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6915150" y="4407098"/>
            <a:ext cx="43624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8BDF8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Gestión de Compra Ágil: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Visualización de órdenes de compra menores y requerimientos directos de baja cuantía.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914400" y="2418457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→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914400" y="3412777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→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914400" y="4407098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→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6629400" y="2418457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→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6629400" y="3412777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→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6629400" y="4407098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→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¿Qué funcionalidades ofrecen?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9" name="Google Shape;12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19473"/>
            <a:ext cx="3492549" cy="32096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219473"/>
            <a:ext cx="3492549" cy="32096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219473"/>
            <a:ext cx="3492549" cy="3209627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>
            <a:off x="914400" y="3181498"/>
            <a:ext cx="294708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Procesamiento Semántico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914400" y="3581548"/>
            <a:ext cx="2806749" cy="12189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Supera la limitación de palabras exactas (ej. "hospedaje" vs. "alojamiento") mediante NLP avanzado, capturando la verdadera intención de negocio tras la licitación.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4692699" y="3181498"/>
            <a:ext cx="2947087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Arquitectura Python Web Ligera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4692699" y="3867298"/>
            <a:ext cx="2806749" cy="12189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Diseñada específicamente para operar sin scripts locales bloqueados por los firewalls corporativos del hotel, garantizando estabilidad y seguridad operativa.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8470999" y="3181498"/>
            <a:ext cx="2947087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Validación ID Robusta Cruzada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8470999" y="3867298"/>
            <a:ext cx="2806749" cy="12189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Evita el "Efecto ID" ingresando al detalle del documento para cruzar los datos reales con los anexos, eliminando búsquedas infructuosas de licitaciones erróneas.</a:t>
            </a:r>
            <a:endParaRPr/>
          </a:p>
        </p:txBody>
      </p:sp>
      <p:pic>
        <p:nvPicPr>
          <p:cNvPr descr="image.png" id="139" name="Google Shape;139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14400" y="2619523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92699" y="2619523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70999" y="2619523"/>
            <a:ext cx="3048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6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¿En qué se diferencia nuestra propuesta?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7" name="Google Shape;14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870769"/>
            <a:ext cx="5334000" cy="39068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870769"/>
            <a:ext cx="5334000" cy="3906887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7"/>
          <p:cNvSpPr txBox="1"/>
          <p:nvPr/>
        </p:nvSpPr>
        <p:spPr>
          <a:xfrm>
            <a:off x="914400" y="2213669"/>
            <a:ext cx="488061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Cuellos de Botella Operativos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6629400" y="2213669"/>
            <a:ext cx="488061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Viabilidad Económica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1200150" y="2623244"/>
            <a:ext cx="43624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8BDF8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Ineficiencia Semántica: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Elimina la pérdida de oportunidades críticas ocultas bajo variaciones terminológicas del sector hotelero.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1200150" y="3617565"/>
            <a:ext cx="43624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8BDF8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Costo de Oportunidad Comercial: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Reduce las horas diarias de revisión manual y acelera la detección temprana frente a competidores.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1200150" y="4611885"/>
            <a:ext cx="43624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8BDF8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Control de Admisibilidad: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Previene la descalificación por omisión administrativa (Anexos, poderes, pactos de integridad).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6915150" y="2623244"/>
            <a:ext cx="43624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8BDF8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Control Presupuestario Preventivo: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Alerta automática cuando el costo base supera el presupuesto del mandante.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6915150" y="3617565"/>
            <a:ext cx="43624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8BDF8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Foco en Compra Ágil: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Priorización inteligente del nuevo límite de 6.900.000 CLP para optimizar conversiones rápidas.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6915150" y="4611885"/>
            <a:ext cx="43624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8BDF8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Trazabilidad en Dashboard: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Monitoreo riguroso de todo el embudo de conversión y rendimiento comercial.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914400" y="2623244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→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914400" y="3617565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→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914400" y="4611885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→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6629400" y="2623244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→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6629400" y="3617565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→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6629400" y="4611885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→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¿Qué problema resuelve de mejor manera?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9" name="Google Shape;16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19473"/>
            <a:ext cx="3492549" cy="32096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219473"/>
            <a:ext cx="3492549" cy="32096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219473"/>
            <a:ext cx="3492549" cy="3209627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8"/>
          <p:cNvSpPr txBox="1"/>
          <p:nvPr/>
        </p:nvSpPr>
        <p:spPr>
          <a:xfrm>
            <a:off x="914400" y="3181498"/>
            <a:ext cx="2947087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Estrategia sobre Búsqueda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914400" y="3867298"/>
            <a:ext cx="2806749" cy="12189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Transforma al equipo de eventos de un rol reactivo de procesamiento de datos a una unidad comercial enfocada en el diseño de propuestas de valor de alto impacto.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4692699" y="3181498"/>
            <a:ext cx="2947087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Inteligencia Gerencial Dinámica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4692699" y="3867298"/>
            <a:ext cx="2806749" cy="12189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Generación de reportes semanales y mensuales para la toma de decisiones gerenciales y ajuste dinámico de precios frente a la demanda estatal real.</a:t>
            </a:r>
            <a:endParaRPr/>
          </a:p>
        </p:txBody>
      </p:sp>
      <p:sp>
        <p:nvSpPr>
          <p:cNvPr id="177" name="Google Shape;177;p18"/>
          <p:cNvSpPr txBox="1"/>
          <p:nvPr/>
        </p:nvSpPr>
        <p:spPr>
          <a:xfrm>
            <a:off x="8470999" y="3181498"/>
            <a:ext cx="2947087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Ventaja Competitiva Crítica</a:t>
            </a:r>
            <a:endParaRPr/>
          </a:p>
        </p:txBody>
      </p:sp>
      <p:sp>
        <p:nvSpPr>
          <p:cNvPr id="178" name="Google Shape;178;p18"/>
          <p:cNvSpPr txBox="1"/>
          <p:nvPr/>
        </p:nvSpPr>
        <p:spPr>
          <a:xfrm>
            <a:off x="8470999" y="3867298"/>
            <a:ext cx="2806749" cy="12189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Garantiza la detección oportuna de licitaciones públicas clave antes que la competencia bloquee disponibilidad en el Hotel Plaza San Francisco.</a:t>
            </a:r>
            <a:endParaRPr/>
          </a:p>
        </p:txBody>
      </p:sp>
      <p:pic>
        <p:nvPicPr>
          <p:cNvPr descr="image.png" id="179" name="Google Shape;179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14400" y="2619523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92699" y="2619523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70999" y="2619523"/>
            <a:ext cx="3048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8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¿Cuál será el aporte o valor agregado?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7" name="Google Shape;18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62348"/>
            <a:ext cx="3492549" cy="29238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362348"/>
            <a:ext cx="3492549" cy="29238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362348"/>
            <a:ext cx="3492549" cy="2923877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9"/>
          <p:cNvSpPr txBox="1"/>
          <p:nvPr/>
        </p:nvSpPr>
        <p:spPr>
          <a:xfrm>
            <a:off x="914400" y="3324373"/>
            <a:ext cx="294708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Python Web Framework</a:t>
            </a:r>
            <a:endParaRPr/>
          </a:p>
        </p:txBody>
      </p:sp>
      <p:sp>
        <p:nvSpPr>
          <p:cNvPr id="192" name="Google Shape;192;p19"/>
          <p:cNvSpPr txBox="1"/>
          <p:nvPr/>
        </p:nvSpPr>
        <p:spPr>
          <a:xfrm>
            <a:off x="914400" y="3724423"/>
            <a:ext cx="2806749" cy="12189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Desarrollo backend robusto en Python operando exclusivamente mediante interfaz web para evitar bloqueos por los firewalls y antivirus corporativos del hotel.</a:t>
            </a:r>
            <a:endParaRPr/>
          </a:p>
        </p:txBody>
      </p:sp>
      <p:sp>
        <p:nvSpPr>
          <p:cNvPr id="193" name="Google Shape;193;p19"/>
          <p:cNvSpPr txBox="1"/>
          <p:nvPr/>
        </p:nvSpPr>
        <p:spPr>
          <a:xfrm>
            <a:off x="4692699" y="3324373"/>
            <a:ext cx="294708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Procesamiento NLP</a:t>
            </a:r>
            <a:endParaRPr/>
          </a:p>
        </p:txBody>
      </p:sp>
      <p:sp>
        <p:nvSpPr>
          <p:cNvPr id="194" name="Google Shape;194;p19"/>
          <p:cNvSpPr txBox="1"/>
          <p:nvPr/>
        </p:nvSpPr>
        <p:spPr>
          <a:xfrm>
            <a:off x="4692699" y="3724423"/>
            <a:ext cx="2806749" cy="9751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Algoritmos de Lenguaje Natural para análisis semántico avanzado de bases de licitación (TDR) de hasta 50 páginas y extracción de presupuestos clave.</a:t>
            </a:r>
            <a:endParaRPr/>
          </a:p>
        </p:txBody>
      </p:sp>
      <p:sp>
        <p:nvSpPr>
          <p:cNvPr id="195" name="Google Shape;195;p19"/>
          <p:cNvSpPr txBox="1"/>
          <p:nvPr/>
        </p:nvSpPr>
        <p:spPr>
          <a:xfrm>
            <a:off x="8470999" y="3324373"/>
            <a:ext cx="294708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Dashboard Analítico</a:t>
            </a:r>
            <a:endParaRPr/>
          </a:p>
        </p:txBody>
      </p:sp>
      <p:sp>
        <p:nvSpPr>
          <p:cNvPr id="196" name="Google Shape;196;p19"/>
          <p:cNvSpPr txBox="1"/>
          <p:nvPr/>
        </p:nvSpPr>
        <p:spPr>
          <a:xfrm>
            <a:off x="8470999" y="3724423"/>
            <a:ext cx="2806749" cy="9751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Interfaz de usuario (UX) simplificada y tablero de control gerencial para el monitoreo del embudo de conversión y trazabilidad de licitaciones.</a:t>
            </a:r>
            <a:endParaRPr/>
          </a:p>
        </p:txBody>
      </p:sp>
      <p:pic>
        <p:nvPicPr>
          <p:cNvPr descr="image.png" id="197" name="Google Shape;197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14400" y="2762398"/>
            <a:ext cx="3048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92699" y="2762398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70999" y="2762398"/>
            <a:ext cx="3905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9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¿Qué tecnologías se utilizarán?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